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69" r:id="rId2"/>
    <p:sldId id="270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B4E5"/>
    <a:srgbClr val="7A7979"/>
    <a:srgbClr val="3B3838"/>
    <a:srgbClr val="AFABAB"/>
    <a:srgbClr val="5274FF"/>
    <a:srgbClr val="528AFE"/>
    <a:srgbClr val="EC68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56" autoAdjust="0"/>
    <p:restoredTop sz="90887" autoAdjust="0"/>
  </p:normalViewPr>
  <p:slideViewPr>
    <p:cSldViewPr snapToGrid="0">
      <p:cViewPr>
        <p:scale>
          <a:sx n="150" d="100"/>
          <a:sy n="150" d="100"/>
        </p:scale>
        <p:origin x="1842" y="-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62AEA-6E4D-4E6F-8CF0-72279466C408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025CB8-BB5C-4DD7-9539-608D6076E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71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25CB8-BB5C-4DD7-9539-608D6076EA7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698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AB5CD-3D8B-D7F9-EDD6-F9D7BC831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A566D2-070F-2876-1347-B0446F40C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34D9FA-2E15-22DE-1033-2195927B1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ED4DDE-1204-6DEB-89E4-4564514E4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25CB8-BB5C-4DD7-9539-608D6076EA7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295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F236-6ADC-410D-B190-DAB48A6C1C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130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553D64-4742-30C7-84A0-335B9993E099}"/>
              </a:ext>
            </a:extLst>
          </p:cNvPr>
          <p:cNvSpPr/>
          <p:nvPr userDrawn="1"/>
        </p:nvSpPr>
        <p:spPr>
          <a:xfrm flipV="1">
            <a:off x="241300" y="6420692"/>
            <a:ext cx="8661400" cy="69008"/>
          </a:xfrm>
          <a:prstGeom prst="rect">
            <a:avLst/>
          </a:prstGeom>
          <a:solidFill>
            <a:srgbClr val="36B4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57EB48D8-C451-BEF3-9330-7B7E9941F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43300" y="6532729"/>
            <a:ext cx="2057400" cy="365125"/>
          </a:xfrm>
        </p:spPr>
        <p:txBody>
          <a:bodyPr/>
          <a:lstStyle>
            <a:lvl1pPr algn="ctr">
              <a:defRPr/>
            </a:lvl1pPr>
          </a:lstStyle>
          <a:p>
            <a:fld id="{CCA2F236-6ADC-410D-B190-DAB48A6C1C7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4C28CE-74D3-F138-0165-BAA890B24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1" y="325272"/>
            <a:ext cx="8889998" cy="544231"/>
          </a:xfr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F7C1CA2-B0F7-7B60-0F27-66EF7B8486D0}"/>
              </a:ext>
            </a:extLst>
          </p:cNvPr>
          <p:cNvCxnSpPr>
            <a:cxnSpLocks/>
          </p:cNvCxnSpPr>
          <p:nvPr userDrawn="1"/>
        </p:nvCxnSpPr>
        <p:spPr>
          <a:xfrm>
            <a:off x="127001" y="869503"/>
            <a:ext cx="8889998" cy="0"/>
          </a:xfrm>
          <a:prstGeom prst="line">
            <a:avLst/>
          </a:prstGeom>
          <a:ln w="28575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DC389B7-642B-C4F4-0B71-3545573E4486}"/>
              </a:ext>
            </a:extLst>
          </p:cNvPr>
          <p:cNvGrpSpPr/>
          <p:nvPr userDrawn="1"/>
        </p:nvGrpSpPr>
        <p:grpSpPr>
          <a:xfrm>
            <a:off x="8057766" y="6573322"/>
            <a:ext cx="844934" cy="187106"/>
            <a:chOff x="2390775" y="3351930"/>
            <a:chExt cx="4471051" cy="795134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B0DE347-D348-1755-FF12-597904B947F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057" b="13614"/>
            <a:stretch/>
          </p:blipFill>
          <p:spPr>
            <a:xfrm>
              <a:off x="3048102" y="3394669"/>
              <a:ext cx="3813724" cy="752395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9828EFD-5436-0E08-3C59-43977625275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99" r="25819" b="41564"/>
            <a:stretch/>
          </p:blipFill>
          <p:spPr>
            <a:xfrm>
              <a:off x="2390775" y="3351930"/>
              <a:ext cx="957022" cy="7951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7835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fld id="{CCA2F236-6ADC-410D-B190-DAB48A6C1C7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2667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F4A50CC-6E63-DF21-8883-68CAB42CC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F236-6ADC-410D-B190-DAB48A6C1C74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D36816E3-7610-665A-0B98-F5EAB0E44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1" y="275263"/>
            <a:ext cx="8889998" cy="781627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ea"/>
                <a:ea typeface="+mn-ea"/>
              </a:rPr>
              <a:t>1. </a:t>
            </a:r>
            <a:r>
              <a:rPr lang="ko-KR" altLang="en-US" dirty="0" err="1">
                <a:latin typeface="+mn-ea"/>
                <a:ea typeface="+mn-ea"/>
              </a:rPr>
              <a:t>아키텍쳐</a:t>
            </a:r>
            <a:endParaRPr lang="ko-KR" altLang="en-US" sz="1600" dirty="0">
              <a:latin typeface="+mn-ea"/>
              <a:ea typeface="+mn-ea"/>
            </a:endParaRPr>
          </a:p>
        </p:txBody>
      </p:sp>
      <p:sp>
        <p:nvSpPr>
          <p:cNvPr id="5" name="내용 개체 틀 6">
            <a:extLst>
              <a:ext uri="{FF2B5EF4-FFF2-40B4-BE49-F238E27FC236}">
                <a16:creationId xmlns:a16="http://schemas.microsoft.com/office/drawing/2014/main" id="{224EFFB0-1872-B998-05D5-119B8DEC5E09}"/>
              </a:ext>
            </a:extLst>
          </p:cNvPr>
          <p:cNvSpPr txBox="1">
            <a:spLocks/>
          </p:cNvSpPr>
          <p:nvPr/>
        </p:nvSpPr>
        <p:spPr>
          <a:xfrm>
            <a:off x="198437" y="989919"/>
            <a:ext cx="8647110" cy="389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 b="1" dirty="0">
                <a:solidFill>
                  <a:srgbClr val="002060"/>
                </a:solidFill>
                <a:latin typeface="+mn-ea"/>
              </a:rPr>
              <a:t>SW Architecture </a:t>
            </a:r>
            <a:r>
              <a:rPr lang="ko-KR" altLang="en-US" sz="1400" b="1" dirty="0">
                <a:solidFill>
                  <a:srgbClr val="002060"/>
                </a:solidFill>
                <a:latin typeface="+mn-ea"/>
              </a:rPr>
              <a:t>는 </a:t>
            </a:r>
            <a:r>
              <a:rPr lang="en-US" altLang="ko-KR" sz="1400" b="1" dirty="0">
                <a:solidFill>
                  <a:srgbClr val="002060"/>
                </a:solidFill>
                <a:latin typeface="+mn-ea"/>
              </a:rPr>
              <a:t>Open source </a:t>
            </a:r>
            <a:r>
              <a:rPr lang="ko-KR" altLang="en-US" sz="1400" b="1" dirty="0">
                <a:solidFill>
                  <a:srgbClr val="002060"/>
                </a:solidFill>
                <a:latin typeface="+mn-ea"/>
              </a:rPr>
              <a:t>사용하고 논리적으로 기준으로 </a:t>
            </a:r>
            <a:r>
              <a:rPr lang="en-US" altLang="ko-KR" sz="1400" b="1" dirty="0" err="1">
                <a:solidFill>
                  <a:srgbClr val="002060"/>
                </a:solidFill>
                <a:latin typeface="+mn-ea"/>
              </a:rPr>
              <a:t>WebServer</a:t>
            </a:r>
            <a:r>
              <a:rPr lang="en-US" altLang="ko-KR" sz="1400" b="1" dirty="0">
                <a:solidFill>
                  <a:srgbClr val="002060"/>
                </a:solidFill>
                <a:latin typeface="+mn-ea"/>
              </a:rPr>
              <a:t>/WAS 1</a:t>
            </a:r>
            <a:r>
              <a:rPr lang="ko-KR" altLang="en-US" sz="1400" b="1" dirty="0">
                <a:solidFill>
                  <a:srgbClr val="002060"/>
                </a:solidFill>
                <a:latin typeface="+mn-ea"/>
              </a:rPr>
              <a:t>대</a:t>
            </a:r>
            <a:r>
              <a:rPr lang="en-US" altLang="ko-KR" sz="1400" b="1" dirty="0">
                <a:solidFill>
                  <a:srgbClr val="002060"/>
                </a:solidFill>
                <a:latin typeface="+mn-ea"/>
              </a:rPr>
              <a:t>,DB 1</a:t>
            </a:r>
            <a:r>
              <a:rPr lang="ko-KR" altLang="en-US" sz="1400" b="1" dirty="0">
                <a:solidFill>
                  <a:srgbClr val="002060"/>
                </a:solidFill>
                <a:latin typeface="+mn-ea"/>
              </a:rPr>
              <a:t>대가 필요합니다 </a:t>
            </a:r>
            <a:r>
              <a:rPr lang="en-US" altLang="ko-KR" sz="1400" b="1" dirty="0">
                <a:solidFill>
                  <a:srgbClr val="002060"/>
                </a:solidFill>
                <a:latin typeface="+mn-ea"/>
              </a:rPr>
              <a:t>(1</a:t>
            </a:r>
            <a:r>
              <a:rPr lang="ko-KR" altLang="en-US" sz="1400" b="1" dirty="0">
                <a:solidFill>
                  <a:srgbClr val="002060"/>
                </a:solidFill>
                <a:latin typeface="+mn-ea"/>
              </a:rPr>
              <a:t>대로 운영 가능</a:t>
            </a:r>
            <a:r>
              <a:rPr lang="en-US" altLang="ko-KR" sz="1400" b="1" dirty="0">
                <a:solidFill>
                  <a:srgbClr val="002060"/>
                </a:solidFill>
                <a:latin typeface="+mn-ea"/>
              </a:rPr>
              <a:t>)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0EE21D-D3C6-C2CF-083E-0BE91A2401F9}"/>
              </a:ext>
            </a:extLst>
          </p:cNvPr>
          <p:cNvSpPr/>
          <p:nvPr/>
        </p:nvSpPr>
        <p:spPr>
          <a:xfrm>
            <a:off x="3802191" y="2002390"/>
            <a:ext cx="3091279" cy="1173604"/>
          </a:xfrm>
          <a:prstGeom prst="rect">
            <a:avLst/>
          </a:prstGeom>
          <a:solidFill>
            <a:srgbClr val="00B0F0">
              <a:alpha val="18000"/>
            </a:srgbClr>
          </a:solidFill>
          <a:ln>
            <a:solidFill>
              <a:srgbClr val="36B4E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F203847-745B-ECBE-A300-C05A184060F9}"/>
              </a:ext>
            </a:extLst>
          </p:cNvPr>
          <p:cNvSpPr/>
          <p:nvPr/>
        </p:nvSpPr>
        <p:spPr>
          <a:xfrm>
            <a:off x="3990613" y="2194684"/>
            <a:ext cx="937672" cy="908135"/>
          </a:xfrm>
          <a:prstGeom prst="roundRect">
            <a:avLst>
              <a:gd name="adj" fmla="val 8149"/>
            </a:avLst>
          </a:prstGeom>
          <a:solidFill>
            <a:schemeClr val="bg1"/>
          </a:solidFill>
          <a:ln w="9525">
            <a:solidFill>
              <a:srgbClr val="7A79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19A5C46-1D4C-C5B2-C882-875AC39D93A1}"/>
              </a:ext>
            </a:extLst>
          </p:cNvPr>
          <p:cNvSpPr/>
          <p:nvPr/>
        </p:nvSpPr>
        <p:spPr>
          <a:xfrm>
            <a:off x="2474775" y="2207303"/>
            <a:ext cx="981208" cy="914829"/>
          </a:xfrm>
          <a:prstGeom prst="roundRect">
            <a:avLst>
              <a:gd name="adj" fmla="val 8149"/>
            </a:avLst>
          </a:prstGeom>
          <a:solidFill>
            <a:schemeClr val="bg1"/>
          </a:solidFill>
          <a:ln w="9525">
            <a:solidFill>
              <a:srgbClr val="7A79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6447ADD-2F2D-0C28-18DB-2FDBA35D61B2}"/>
              </a:ext>
            </a:extLst>
          </p:cNvPr>
          <p:cNvSpPr/>
          <p:nvPr/>
        </p:nvSpPr>
        <p:spPr>
          <a:xfrm>
            <a:off x="2282375" y="1740174"/>
            <a:ext cx="4813749" cy="2898488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79C4D42-80BC-3D74-B3AB-A3854B29C457}"/>
              </a:ext>
            </a:extLst>
          </p:cNvPr>
          <p:cNvGrpSpPr/>
          <p:nvPr/>
        </p:nvGrpSpPr>
        <p:grpSpPr>
          <a:xfrm>
            <a:off x="1646562" y="2152941"/>
            <a:ext cx="594786" cy="152113"/>
            <a:chOff x="1679420" y="3327889"/>
            <a:chExt cx="815398" cy="152113"/>
          </a:xfrm>
        </p:grpSpPr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A03B6F4F-7594-81F4-5895-D1B905094CC9}"/>
                </a:ext>
              </a:extLst>
            </p:cNvPr>
            <p:cNvCxnSpPr/>
            <p:nvPr/>
          </p:nvCxnSpPr>
          <p:spPr>
            <a:xfrm>
              <a:off x="1679420" y="3327889"/>
              <a:ext cx="815398" cy="0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A8B8F7FE-C324-2EE0-D55D-BF07788B8A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79420" y="3480002"/>
              <a:ext cx="815398" cy="0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6DDE23ED-51C8-23AB-AAA0-3165D2756840}"/>
              </a:ext>
            </a:extLst>
          </p:cNvPr>
          <p:cNvSpPr txBox="1"/>
          <p:nvPr/>
        </p:nvSpPr>
        <p:spPr>
          <a:xfrm>
            <a:off x="2352109" y="2219581"/>
            <a:ext cx="1235930" cy="33855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altLang="ko-KR" sz="900" b="1" kern="0" dirty="0">
                <a:latin typeface="+mn-ea"/>
              </a:rPr>
              <a:t>Web Server #1</a:t>
            </a:r>
          </a:p>
          <a:p>
            <a:pPr algn="ctr"/>
            <a:r>
              <a:rPr lang="en-US" altLang="ko-KR" sz="700" b="1" dirty="0">
                <a:solidFill>
                  <a:srgbClr val="002060"/>
                </a:solidFill>
                <a:latin typeface="+mn-ea"/>
              </a:rPr>
              <a:t>nginx-1.21.6</a:t>
            </a:r>
            <a:endParaRPr lang="ko-KR" altLang="en-US" sz="700" b="1" kern="0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D376B4F-62B0-2D74-B504-CBD33399E2DC}"/>
              </a:ext>
            </a:extLst>
          </p:cNvPr>
          <p:cNvSpPr txBox="1"/>
          <p:nvPr/>
        </p:nvSpPr>
        <p:spPr>
          <a:xfrm>
            <a:off x="3729810" y="1754842"/>
            <a:ext cx="2678465" cy="25391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altLang="ko-KR" sz="1050" b="1" kern="0" dirty="0">
                <a:latin typeface="+mn-ea"/>
              </a:rPr>
              <a:t>WAS(Web Application Server) #1</a:t>
            </a:r>
            <a:endParaRPr lang="ko-KR" altLang="en-US" sz="1050" b="1" kern="0" dirty="0"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3A362F-AA93-3D4C-E386-414E148436FB}"/>
              </a:ext>
            </a:extLst>
          </p:cNvPr>
          <p:cNvSpPr txBox="1"/>
          <p:nvPr/>
        </p:nvSpPr>
        <p:spPr>
          <a:xfrm>
            <a:off x="2282375" y="1486258"/>
            <a:ext cx="3318325" cy="25391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altLang="ko-KR" sz="1050" b="1" kern="0" dirty="0">
                <a:latin typeface="+mn-ea"/>
              </a:rPr>
              <a:t>OS (Ubuntu 22.04 TLS </a:t>
            </a:r>
            <a:r>
              <a:rPr lang="ko-KR" altLang="en-US" sz="1050" b="1" kern="0" dirty="0">
                <a:latin typeface="+mn-ea"/>
              </a:rPr>
              <a:t>이상</a:t>
            </a:r>
            <a:r>
              <a:rPr lang="en-US" altLang="ko-KR" sz="1050" b="1" kern="0" dirty="0">
                <a:latin typeface="+mn-ea"/>
              </a:rPr>
              <a:t>)</a:t>
            </a:r>
            <a:endParaRPr lang="ko-KR" altLang="en-US" sz="1050" b="1" kern="0" dirty="0"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2788FF-86E7-F02F-2E7C-FEBD70564567}"/>
              </a:ext>
            </a:extLst>
          </p:cNvPr>
          <p:cNvSpPr txBox="1"/>
          <p:nvPr/>
        </p:nvSpPr>
        <p:spPr>
          <a:xfrm>
            <a:off x="3939263" y="2211772"/>
            <a:ext cx="1047523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altLang="ko-KR" sz="900" b="1" kern="0" dirty="0">
                <a:latin typeface="+mn-ea"/>
              </a:rPr>
              <a:t>Web </a:t>
            </a:r>
            <a:r>
              <a:rPr lang="ko-KR" altLang="en-US" sz="900" b="1" kern="0" dirty="0">
                <a:latin typeface="+mn-ea"/>
              </a:rPr>
              <a:t> </a:t>
            </a:r>
            <a:endParaRPr lang="en-US" altLang="ko-KR" sz="900" b="1" kern="0" dirty="0">
              <a:latin typeface="+mn-ea"/>
            </a:endParaRPr>
          </a:p>
          <a:p>
            <a:pPr algn="ctr"/>
            <a:r>
              <a:rPr lang="en-US" altLang="ko-KR" sz="900" b="1" kern="0" dirty="0">
                <a:latin typeface="+mn-ea"/>
              </a:rPr>
              <a:t>Container</a:t>
            </a:r>
            <a:endParaRPr lang="ko-KR" altLang="en-US" sz="900" b="1" kern="0" dirty="0">
              <a:latin typeface="+mn-ea"/>
            </a:endParaRPr>
          </a:p>
        </p:txBody>
      </p:sp>
      <p:grpSp>
        <p:nvGrpSpPr>
          <p:cNvPr id="1035" name="그룹 1034">
            <a:extLst>
              <a:ext uri="{FF2B5EF4-FFF2-40B4-BE49-F238E27FC236}">
                <a16:creationId xmlns:a16="http://schemas.microsoft.com/office/drawing/2014/main" id="{3F36372F-77B7-41C6-CA97-CC3BD531A670}"/>
              </a:ext>
            </a:extLst>
          </p:cNvPr>
          <p:cNvGrpSpPr/>
          <p:nvPr/>
        </p:nvGrpSpPr>
        <p:grpSpPr>
          <a:xfrm>
            <a:off x="850684" y="1976788"/>
            <a:ext cx="858049" cy="693251"/>
            <a:chOff x="914463" y="1795009"/>
            <a:chExt cx="858049" cy="693251"/>
          </a:xfrm>
        </p:grpSpPr>
        <p:pic>
          <p:nvPicPr>
            <p:cNvPr id="1041" name="그림 1040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0A691E0A-8F3A-4773-A21C-FCE2AB87A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4238" y="1795009"/>
              <a:ext cx="467066" cy="467066"/>
            </a:xfrm>
            <a:prstGeom prst="rect">
              <a:avLst/>
            </a:prstGeom>
          </p:spPr>
        </p:pic>
        <p:sp>
          <p:nvSpPr>
            <p:cNvPr id="1043" name="TextBox 1042">
              <a:extLst>
                <a:ext uri="{FF2B5EF4-FFF2-40B4-BE49-F238E27FC236}">
                  <a16:creationId xmlns:a16="http://schemas.microsoft.com/office/drawing/2014/main" id="{1CF3AF1F-B84F-DA3E-1749-7A74E599370A}"/>
                </a:ext>
              </a:extLst>
            </p:cNvPr>
            <p:cNvSpPr txBox="1"/>
            <p:nvPr/>
          </p:nvSpPr>
          <p:spPr>
            <a:xfrm>
              <a:off x="914463" y="2234344"/>
              <a:ext cx="858049" cy="253916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/>
            <a:p>
              <a:pPr algn="ctr"/>
              <a:r>
                <a:rPr lang="ko-KR" altLang="en-US" sz="1050" b="1" kern="0" dirty="0">
                  <a:latin typeface="+mn-ea"/>
                </a:rPr>
                <a:t>사용자</a:t>
              </a:r>
            </a:p>
          </p:txBody>
        </p:sp>
      </p:grpSp>
      <p:sp>
        <p:nvSpPr>
          <p:cNvPr id="1044" name="TextBox 1043">
            <a:extLst>
              <a:ext uri="{FF2B5EF4-FFF2-40B4-BE49-F238E27FC236}">
                <a16:creationId xmlns:a16="http://schemas.microsoft.com/office/drawing/2014/main" id="{ADF5C78E-74BD-DAEA-7DE7-40BA673E0441}"/>
              </a:ext>
            </a:extLst>
          </p:cNvPr>
          <p:cNvSpPr txBox="1"/>
          <p:nvPr/>
        </p:nvSpPr>
        <p:spPr>
          <a:xfrm>
            <a:off x="1528291" y="1871446"/>
            <a:ext cx="858049" cy="21544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altLang="ko-KR" sz="800" kern="0" dirty="0">
                <a:latin typeface="+mn-ea"/>
              </a:rPr>
              <a:t>Request</a:t>
            </a:r>
            <a:endParaRPr lang="ko-KR" altLang="en-US" sz="800" kern="0" dirty="0">
              <a:latin typeface="+mn-ea"/>
            </a:endParaRP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1EEAE25E-3E95-FB59-A081-6D321348F216}"/>
              </a:ext>
            </a:extLst>
          </p:cNvPr>
          <p:cNvSpPr txBox="1"/>
          <p:nvPr/>
        </p:nvSpPr>
        <p:spPr>
          <a:xfrm>
            <a:off x="1566284" y="2274077"/>
            <a:ext cx="858049" cy="21544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altLang="ko-KR" sz="800" kern="0" dirty="0">
                <a:latin typeface="+mn-ea"/>
              </a:rPr>
              <a:t>Response</a:t>
            </a:r>
            <a:endParaRPr lang="ko-KR" altLang="en-US" sz="800" kern="0" dirty="0">
              <a:latin typeface="+mn-ea"/>
            </a:endParaRPr>
          </a:p>
        </p:txBody>
      </p:sp>
      <p:sp>
        <p:nvSpPr>
          <p:cNvPr id="1046" name="사각형: 둥근 모서리 1045">
            <a:extLst>
              <a:ext uri="{FF2B5EF4-FFF2-40B4-BE49-F238E27FC236}">
                <a16:creationId xmlns:a16="http://schemas.microsoft.com/office/drawing/2014/main" id="{3D6910F6-5D1F-89CD-66ED-83756BA7C193}"/>
              </a:ext>
            </a:extLst>
          </p:cNvPr>
          <p:cNvSpPr/>
          <p:nvPr/>
        </p:nvSpPr>
        <p:spPr>
          <a:xfrm>
            <a:off x="5930951" y="2184187"/>
            <a:ext cx="709540" cy="918632"/>
          </a:xfrm>
          <a:prstGeom prst="roundRect">
            <a:avLst>
              <a:gd name="adj" fmla="val 203"/>
            </a:avLst>
          </a:prstGeom>
          <a:solidFill>
            <a:schemeClr val="bg1"/>
          </a:solidFill>
          <a:ln w="9525">
            <a:solidFill>
              <a:srgbClr val="7A79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D020D335-465D-302D-240A-C9A9153BBAB3}"/>
              </a:ext>
            </a:extLst>
          </p:cNvPr>
          <p:cNvSpPr txBox="1"/>
          <p:nvPr/>
        </p:nvSpPr>
        <p:spPr>
          <a:xfrm>
            <a:off x="2519125" y="2504462"/>
            <a:ext cx="8809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+mn-ea"/>
              </a:rPr>
              <a:t>Send Request</a:t>
            </a: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+mn-ea"/>
              </a:rPr>
              <a:t>To Container</a:t>
            </a: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+mn-ea"/>
              </a:rPr>
              <a:t>Transfer result </a:t>
            </a: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+mn-ea"/>
              </a:rPr>
              <a:t>To client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2B086705-2843-C8A1-7CCC-A2860CB71AE6}"/>
              </a:ext>
            </a:extLst>
          </p:cNvPr>
          <p:cNvSpPr txBox="1"/>
          <p:nvPr/>
        </p:nvSpPr>
        <p:spPr>
          <a:xfrm>
            <a:off x="4050626" y="2568196"/>
            <a:ext cx="8809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700" dirty="0">
                <a:solidFill>
                  <a:srgbClr val="FF0000"/>
                </a:solidFill>
                <a:latin typeface="+mn-ea"/>
              </a:rPr>
              <a:t>JSP, Servlet</a:t>
            </a:r>
            <a:endParaRPr lang="en-US" altLang="ko-KR" sz="700" dirty="0">
              <a:latin typeface="+mn-ea"/>
            </a:endParaRPr>
          </a:p>
          <a:p>
            <a:pPr algn="ctr"/>
            <a:r>
              <a:rPr lang="en-US" altLang="ko-KR" sz="700" dirty="0">
                <a:latin typeface="+mn-ea"/>
              </a:rPr>
              <a:t>(Dynamic</a:t>
            </a:r>
          </a:p>
          <a:p>
            <a:pPr algn="ctr"/>
            <a:r>
              <a:rPr lang="en-US" altLang="ko-KR" sz="700" dirty="0">
                <a:latin typeface="+mn-ea"/>
              </a:rPr>
              <a:t>Processing)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52" name="사각형: 둥근 모서리 1051">
            <a:extLst>
              <a:ext uri="{FF2B5EF4-FFF2-40B4-BE49-F238E27FC236}">
                <a16:creationId xmlns:a16="http://schemas.microsoft.com/office/drawing/2014/main" id="{D14A60B6-4819-38FF-CCF8-76600A89C833}"/>
              </a:ext>
            </a:extLst>
          </p:cNvPr>
          <p:cNvSpPr/>
          <p:nvPr/>
        </p:nvSpPr>
        <p:spPr>
          <a:xfrm>
            <a:off x="5076737" y="2240915"/>
            <a:ext cx="709540" cy="215444"/>
          </a:xfrm>
          <a:prstGeom prst="roundRect">
            <a:avLst>
              <a:gd name="adj" fmla="val 8149"/>
            </a:avLst>
          </a:prstGeom>
          <a:solidFill>
            <a:srgbClr val="002060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Thread 1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54" name="사각형: 둥근 모서리 1053">
            <a:extLst>
              <a:ext uri="{FF2B5EF4-FFF2-40B4-BE49-F238E27FC236}">
                <a16:creationId xmlns:a16="http://schemas.microsoft.com/office/drawing/2014/main" id="{789C14D8-B3E2-3013-2FEA-9941C852A164}"/>
              </a:ext>
            </a:extLst>
          </p:cNvPr>
          <p:cNvSpPr/>
          <p:nvPr/>
        </p:nvSpPr>
        <p:spPr>
          <a:xfrm>
            <a:off x="5076737" y="2504684"/>
            <a:ext cx="709540" cy="215444"/>
          </a:xfrm>
          <a:prstGeom prst="roundRect">
            <a:avLst>
              <a:gd name="adj" fmla="val 8149"/>
            </a:avLst>
          </a:prstGeom>
          <a:solidFill>
            <a:srgbClr val="002060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Thread 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55" name="사각형: 둥근 모서리 1054">
            <a:extLst>
              <a:ext uri="{FF2B5EF4-FFF2-40B4-BE49-F238E27FC236}">
                <a16:creationId xmlns:a16="http://schemas.microsoft.com/office/drawing/2014/main" id="{E2055100-6DF5-C672-2C5B-9EB8F25FB7C2}"/>
              </a:ext>
            </a:extLst>
          </p:cNvPr>
          <p:cNvSpPr/>
          <p:nvPr/>
        </p:nvSpPr>
        <p:spPr>
          <a:xfrm>
            <a:off x="5076737" y="2751334"/>
            <a:ext cx="709540" cy="215444"/>
          </a:xfrm>
          <a:prstGeom prst="roundRect">
            <a:avLst>
              <a:gd name="adj" fmla="val 8149"/>
            </a:avLst>
          </a:prstGeom>
          <a:solidFill>
            <a:srgbClr val="002060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Thread 3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B3670FF2-E6B4-A9BC-0380-A2831D4E8137}"/>
              </a:ext>
            </a:extLst>
          </p:cNvPr>
          <p:cNvSpPr txBox="1"/>
          <p:nvPr/>
        </p:nvSpPr>
        <p:spPr>
          <a:xfrm>
            <a:off x="5930084" y="2188617"/>
            <a:ext cx="709540" cy="2308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altLang="ko-KR" sz="900" b="1" kern="0" dirty="0">
                <a:solidFill>
                  <a:srgbClr val="002060"/>
                </a:solidFill>
                <a:latin typeface="+mn-ea"/>
              </a:rPr>
              <a:t>Servlet</a:t>
            </a:r>
            <a:endParaRPr lang="ko-KR" altLang="en-US" sz="900" b="1" kern="0" dirty="0">
              <a:solidFill>
                <a:srgbClr val="002060"/>
              </a:solidFill>
              <a:latin typeface="+mn-ea"/>
            </a:endParaRPr>
          </a:p>
        </p:txBody>
      </p:sp>
      <p:grpSp>
        <p:nvGrpSpPr>
          <p:cNvPr id="1057" name="그룹 1056">
            <a:extLst>
              <a:ext uri="{FF2B5EF4-FFF2-40B4-BE49-F238E27FC236}">
                <a16:creationId xmlns:a16="http://schemas.microsoft.com/office/drawing/2014/main" id="{7ABC1F90-E2E9-3FE7-AB3D-EEF6E13A678B}"/>
              </a:ext>
            </a:extLst>
          </p:cNvPr>
          <p:cNvGrpSpPr/>
          <p:nvPr/>
        </p:nvGrpSpPr>
        <p:grpSpPr>
          <a:xfrm>
            <a:off x="3415208" y="2626694"/>
            <a:ext cx="594786" cy="152113"/>
            <a:chOff x="3426195" y="2746741"/>
            <a:chExt cx="594786" cy="152113"/>
          </a:xfrm>
        </p:grpSpPr>
        <p:cxnSp>
          <p:nvCxnSpPr>
            <p:cNvPr id="1058" name="직선 화살표 연결선 1057">
              <a:extLst>
                <a:ext uri="{FF2B5EF4-FFF2-40B4-BE49-F238E27FC236}">
                  <a16:creationId xmlns:a16="http://schemas.microsoft.com/office/drawing/2014/main" id="{5249A0F4-57EE-DC8C-DC17-26BC895077FF}"/>
                </a:ext>
              </a:extLst>
            </p:cNvPr>
            <p:cNvCxnSpPr/>
            <p:nvPr/>
          </p:nvCxnSpPr>
          <p:spPr>
            <a:xfrm>
              <a:off x="3426195" y="2746741"/>
              <a:ext cx="594786" cy="0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직선 화살표 연결선 1058">
              <a:extLst>
                <a:ext uri="{FF2B5EF4-FFF2-40B4-BE49-F238E27FC236}">
                  <a16:creationId xmlns:a16="http://schemas.microsoft.com/office/drawing/2014/main" id="{779AA068-7B21-0D1B-F9B8-B8BA643402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26195" y="2898854"/>
              <a:ext cx="594786" cy="0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60" name="직선 화살표 연결선 1059">
            <a:extLst>
              <a:ext uri="{FF2B5EF4-FFF2-40B4-BE49-F238E27FC236}">
                <a16:creationId xmlns:a16="http://schemas.microsoft.com/office/drawing/2014/main" id="{11B88620-1C9A-E596-8CB9-664867BE51FA}"/>
              </a:ext>
            </a:extLst>
          </p:cNvPr>
          <p:cNvCxnSpPr>
            <a:cxnSpLocks/>
            <a:endCxn id="1052" idx="1"/>
          </p:cNvCxnSpPr>
          <p:nvPr/>
        </p:nvCxnSpPr>
        <p:spPr>
          <a:xfrm flipV="1">
            <a:off x="4779344" y="2348637"/>
            <a:ext cx="297393" cy="282396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61" name="표 1060">
            <a:extLst>
              <a:ext uri="{FF2B5EF4-FFF2-40B4-BE49-F238E27FC236}">
                <a16:creationId xmlns:a16="http://schemas.microsoft.com/office/drawing/2014/main" id="{57D8A06A-B551-B8EA-3EF3-9682111896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285711"/>
              </p:ext>
            </p:extLst>
          </p:nvPr>
        </p:nvGraphicFramePr>
        <p:xfrm>
          <a:off x="6028332" y="2435029"/>
          <a:ext cx="569418" cy="59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418">
                  <a:extLst>
                    <a:ext uri="{9D8B030D-6E8A-4147-A177-3AD203B41FA5}">
                      <a16:colId xmlns:a16="http://schemas.microsoft.com/office/drawing/2014/main" val="3627699179"/>
                    </a:ext>
                  </a:extLst>
                </a:gridCol>
              </a:tblGrid>
              <a:tr h="1549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Init()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176741"/>
                  </a:ext>
                </a:extLst>
              </a:tr>
              <a:tr h="1604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latin typeface="+mn-ea"/>
                          <a:ea typeface="+mn-ea"/>
                        </a:rPr>
                        <a:t>Service()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050816"/>
                  </a:ext>
                </a:extLst>
              </a:tr>
              <a:tr h="1604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latin typeface="+mn-ea"/>
                          <a:ea typeface="+mn-ea"/>
                        </a:rPr>
                        <a:t>Destroy()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359804"/>
                  </a:ext>
                </a:extLst>
              </a:tr>
            </a:tbl>
          </a:graphicData>
        </a:graphic>
      </p:graphicFrame>
      <p:cxnSp>
        <p:nvCxnSpPr>
          <p:cNvPr id="1062" name="직선 화살표 연결선 1061">
            <a:extLst>
              <a:ext uri="{FF2B5EF4-FFF2-40B4-BE49-F238E27FC236}">
                <a16:creationId xmlns:a16="http://schemas.microsoft.com/office/drawing/2014/main" id="{778E2BCE-E692-1F60-E1DC-234D15F80AAD}"/>
              </a:ext>
            </a:extLst>
          </p:cNvPr>
          <p:cNvCxnSpPr>
            <a:cxnSpLocks/>
          </p:cNvCxnSpPr>
          <p:nvPr/>
        </p:nvCxnSpPr>
        <p:spPr>
          <a:xfrm>
            <a:off x="5781464" y="2393169"/>
            <a:ext cx="302362" cy="280701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3" name="TextBox 1062">
            <a:extLst>
              <a:ext uri="{FF2B5EF4-FFF2-40B4-BE49-F238E27FC236}">
                <a16:creationId xmlns:a16="http://schemas.microsoft.com/office/drawing/2014/main" id="{1A56C325-9AC1-53AF-CAB9-4E996996DBC9}"/>
              </a:ext>
            </a:extLst>
          </p:cNvPr>
          <p:cNvSpPr txBox="1"/>
          <p:nvPr/>
        </p:nvSpPr>
        <p:spPr>
          <a:xfrm>
            <a:off x="7608667" y="3486968"/>
            <a:ext cx="1130807" cy="1015663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altLang="ko-KR" sz="1000" b="1" kern="0" dirty="0">
                <a:latin typeface="+mn-ea"/>
              </a:rPr>
              <a:t>DB Server #1</a:t>
            </a:r>
          </a:p>
          <a:p>
            <a:pPr algn="ctr"/>
            <a:r>
              <a:rPr lang="en-US" altLang="ko-KR" sz="1000" b="1" kern="0" dirty="0">
                <a:latin typeface="+mn-ea"/>
              </a:rPr>
              <a:t>(MSSQL 2022 </a:t>
            </a:r>
            <a:r>
              <a:rPr lang="ko-KR" altLang="en-US" sz="1000" b="1" kern="0" dirty="0">
                <a:latin typeface="+mn-ea"/>
              </a:rPr>
              <a:t>권장</a:t>
            </a:r>
            <a:br>
              <a:rPr lang="en-US" altLang="ko-KR" sz="1000" b="1" kern="0" dirty="0">
                <a:latin typeface="+mn-ea"/>
              </a:rPr>
            </a:br>
            <a:r>
              <a:rPr lang="en-US" altLang="ko-KR" sz="1000" b="1" kern="0" dirty="0">
                <a:latin typeface="+mn-ea"/>
              </a:rPr>
              <a:t>Maria</a:t>
            </a:r>
            <a:r>
              <a:rPr lang="ko-KR" altLang="en-US" sz="1000" b="1" kern="0" dirty="0">
                <a:latin typeface="+mn-ea"/>
              </a:rPr>
              <a:t>등 오픈소스 </a:t>
            </a:r>
            <a:r>
              <a:rPr lang="en-US" altLang="ko-KR" sz="1000" b="1" kern="0" dirty="0">
                <a:latin typeface="+mn-ea"/>
              </a:rPr>
              <a:t>DB </a:t>
            </a:r>
            <a:r>
              <a:rPr lang="ko-KR" altLang="en-US" sz="1000" b="1" kern="0" dirty="0">
                <a:latin typeface="+mn-ea"/>
              </a:rPr>
              <a:t>사용 가능함</a:t>
            </a:r>
            <a:r>
              <a:rPr lang="en-US" altLang="ko-KR" sz="1000" b="1" kern="0" dirty="0">
                <a:latin typeface="+mn-ea"/>
              </a:rPr>
              <a:t>)</a:t>
            </a:r>
            <a:endParaRPr lang="ko-KR" altLang="en-US" sz="1000" b="1" kern="0" dirty="0">
              <a:latin typeface="+mn-ea"/>
            </a:endParaRP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E87B1257-499E-2D62-DFC9-A41BB8894EDE}"/>
              </a:ext>
            </a:extLst>
          </p:cNvPr>
          <p:cNvSpPr txBox="1"/>
          <p:nvPr/>
        </p:nvSpPr>
        <p:spPr>
          <a:xfrm>
            <a:off x="3743678" y="1975543"/>
            <a:ext cx="15668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2060"/>
                </a:solidFill>
                <a:latin typeface="+mn-ea"/>
              </a:rPr>
              <a:t>TOMCAT 9.0.x</a:t>
            </a:r>
            <a:endParaRPr lang="ko-KR" altLang="en-US" sz="800" b="1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1066" name="화살표: 왼쪽/오른쪽 1065">
            <a:extLst>
              <a:ext uri="{FF2B5EF4-FFF2-40B4-BE49-F238E27FC236}">
                <a16:creationId xmlns:a16="http://schemas.microsoft.com/office/drawing/2014/main" id="{227DD5C1-CE0F-7D90-EE09-72EEF34F220D}"/>
              </a:ext>
            </a:extLst>
          </p:cNvPr>
          <p:cNvSpPr/>
          <p:nvPr/>
        </p:nvSpPr>
        <p:spPr>
          <a:xfrm>
            <a:off x="7151277" y="3080862"/>
            <a:ext cx="709004" cy="185183"/>
          </a:xfrm>
          <a:prstGeom prst="left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</a:endParaRP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883CC4B1-21FB-0DFB-79E6-31261843CF73}"/>
              </a:ext>
            </a:extLst>
          </p:cNvPr>
          <p:cNvSpPr txBox="1"/>
          <p:nvPr/>
        </p:nvSpPr>
        <p:spPr>
          <a:xfrm>
            <a:off x="6865436" y="3236894"/>
            <a:ext cx="1258545" cy="30777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altLang="ko-KR" sz="700" kern="0" dirty="0">
                <a:latin typeface="+mn-ea"/>
              </a:rPr>
              <a:t>DB</a:t>
            </a:r>
          </a:p>
          <a:p>
            <a:pPr algn="ctr"/>
            <a:r>
              <a:rPr lang="en-US" altLang="ko-KR" sz="700" kern="0" dirty="0">
                <a:latin typeface="+mn-ea"/>
              </a:rPr>
              <a:t>Connection</a:t>
            </a:r>
            <a:endParaRPr lang="ko-KR" altLang="en-US" sz="700" kern="0" dirty="0">
              <a:latin typeface="+mn-ea"/>
            </a:endParaRPr>
          </a:p>
        </p:txBody>
      </p:sp>
      <p:pic>
        <p:nvPicPr>
          <p:cNvPr id="1068" name="그림 1067" descr="블랙, 어둠이(가) 표시된 사진&#10;&#10;자동 생성된 설명">
            <a:extLst>
              <a:ext uri="{FF2B5EF4-FFF2-40B4-BE49-F238E27FC236}">
                <a16:creationId xmlns:a16="http://schemas.microsoft.com/office/drawing/2014/main" id="{E05D4E73-84FD-A76D-B48D-5F37595479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3171" y="2933374"/>
            <a:ext cx="497512" cy="497512"/>
          </a:xfrm>
          <a:prstGeom prst="rect">
            <a:avLst/>
          </a:prstGeom>
        </p:spPr>
      </p:pic>
      <p:graphicFrame>
        <p:nvGraphicFramePr>
          <p:cNvPr id="1069" name="표 1068">
            <a:extLst>
              <a:ext uri="{FF2B5EF4-FFF2-40B4-BE49-F238E27FC236}">
                <a16:creationId xmlns:a16="http://schemas.microsoft.com/office/drawing/2014/main" id="{CE397774-D639-9471-AF19-4FCFDD7D94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679265"/>
              </p:ext>
            </p:extLst>
          </p:nvPr>
        </p:nvGraphicFramePr>
        <p:xfrm>
          <a:off x="872156" y="4708292"/>
          <a:ext cx="7359504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9433">
                  <a:extLst>
                    <a:ext uri="{9D8B030D-6E8A-4147-A177-3AD203B41FA5}">
                      <a16:colId xmlns:a16="http://schemas.microsoft.com/office/drawing/2014/main" val="2528411548"/>
                    </a:ext>
                  </a:extLst>
                </a:gridCol>
                <a:gridCol w="3516903">
                  <a:extLst>
                    <a:ext uri="{9D8B030D-6E8A-4147-A177-3AD203B41FA5}">
                      <a16:colId xmlns:a16="http://schemas.microsoft.com/office/drawing/2014/main" val="2241737950"/>
                    </a:ext>
                  </a:extLst>
                </a:gridCol>
                <a:gridCol w="2453168">
                  <a:extLst>
                    <a:ext uri="{9D8B030D-6E8A-4147-A177-3AD203B41FA5}">
                      <a16:colId xmlns:a16="http://schemas.microsoft.com/office/drawing/2014/main" val="3225946424"/>
                    </a:ext>
                  </a:extLst>
                </a:gridCol>
              </a:tblGrid>
              <a:tr h="1461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+mn-ea"/>
                          <a:ea typeface="+mn-ea"/>
                        </a:rPr>
                        <a:t>서버 스펙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+mn-ea"/>
                          <a:ea typeface="+mn-ea"/>
                        </a:rPr>
                        <a:t>클라이언트 스펙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223088"/>
                  </a:ext>
                </a:extLst>
              </a:tr>
              <a:tr h="2071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프로세서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Web 4Core 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프로세서 </a:t>
                      </a:r>
                      <a:endParaRPr lang="en-US" altLang="ko-KR" sz="9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WAS, DB 8Core 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프로세서</a:t>
                      </a:r>
                      <a:endParaRPr lang="en-US" altLang="ko-KR" sz="9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Intel Core i5 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또는 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AMD Ryzen 5 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이상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073587"/>
                  </a:ext>
                </a:extLst>
              </a:tr>
              <a:tr h="1461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메모리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Web 8GB 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이상의 메모리</a:t>
                      </a:r>
                      <a:endParaRPr lang="en-US" altLang="ko-KR" sz="9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WAS, DB 16GB 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이상의 메모리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4GB 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이상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48531"/>
                  </a:ext>
                </a:extLst>
              </a:tr>
              <a:tr h="1461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저장장치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1TB 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이상의 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SSD 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또는 </a:t>
                      </a:r>
                      <a:r>
                        <a:rPr lang="en-US" altLang="ko-KR" sz="9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NVMe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드라이브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256GB 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이상의 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SSD 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이상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498300"/>
                  </a:ext>
                </a:extLst>
              </a:tr>
              <a:tr h="1461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네트워크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1Gbps 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또는 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10Gbps 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이더넷 카드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0.1Gbps 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이더넷 카드 이상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387891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5BAB4F10-65A5-BCFD-DE81-B4E22D41F9CE}"/>
              </a:ext>
            </a:extLst>
          </p:cNvPr>
          <p:cNvSpPr/>
          <p:nvPr/>
        </p:nvSpPr>
        <p:spPr>
          <a:xfrm>
            <a:off x="2647391" y="4056772"/>
            <a:ext cx="1013419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lang="de-DE"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defTabSz="914400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defTabSz="914400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defTabSz="914400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React 19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이상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4AE9B726-5FA5-43B9-DFFB-F4D27B7FB8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9738" y="3655875"/>
            <a:ext cx="344956" cy="33011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2594DF5-FE02-C2DE-90E6-9159527A0586}"/>
              </a:ext>
            </a:extLst>
          </p:cNvPr>
          <p:cNvSpPr txBox="1"/>
          <p:nvPr/>
        </p:nvSpPr>
        <p:spPr>
          <a:xfrm>
            <a:off x="2406866" y="3342081"/>
            <a:ext cx="1230148" cy="25391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altLang="ko-KR" sz="1050" b="1" kern="0" dirty="0">
                <a:latin typeface="+mn-ea"/>
              </a:rPr>
              <a:t>Front Platform</a:t>
            </a:r>
            <a:endParaRPr lang="ko-KR" altLang="en-US" sz="1050" b="1" kern="0" dirty="0"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D6A79E-E0F3-EEA2-8AFB-E7831168F8EB}"/>
              </a:ext>
            </a:extLst>
          </p:cNvPr>
          <p:cNvSpPr txBox="1"/>
          <p:nvPr/>
        </p:nvSpPr>
        <p:spPr>
          <a:xfrm>
            <a:off x="3883628" y="3342081"/>
            <a:ext cx="1793271" cy="25391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altLang="ko-KR" sz="1050" b="1" kern="0" dirty="0">
                <a:latin typeface="+mn-ea"/>
              </a:rPr>
              <a:t>Backend Platform</a:t>
            </a:r>
            <a:endParaRPr lang="ko-KR" altLang="en-US" sz="1050" b="1" kern="0" dirty="0">
              <a:latin typeface="+mn-ea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0E545DBA-5B3A-E3BD-9C45-22D19FB57D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9263" y="3588802"/>
            <a:ext cx="858049" cy="536542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54022A2-2222-17D7-4127-2089B36DA133}"/>
              </a:ext>
            </a:extLst>
          </p:cNvPr>
          <p:cNvSpPr txBox="1"/>
          <p:nvPr/>
        </p:nvSpPr>
        <p:spPr>
          <a:xfrm>
            <a:off x="3883628" y="4075122"/>
            <a:ext cx="15668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2060"/>
                </a:solidFill>
                <a:latin typeface="+mn-ea"/>
              </a:rPr>
              <a:t>Java spring 6.x </a:t>
            </a:r>
            <a:r>
              <a:rPr lang="ko-KR" altLang="en-US" sz="800" b="1" dirty="0">
                <a:solidFill>
                  <a:srgbClr val="002060"/>
                </a:solidFill>
                <a:latin typeface="+mn-ea"/>
              </a:rPr>
              <a:t>이상</a:t>
            </a:r>
          </a:p>
        </p:txBody>
      </p:sp>
    </p:spTree>
    <p:extLst>
      <p:ext uri="{BB962C8B-B14F-4D97-AF65-F5344CB8AC3E}">
        <p14:creationId xmlns:p14="http://schemas.microsoft.com/office/powerpoint/2010/main" val="2855014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6B78F-F1E2-B7FB-5D30-E16BBF067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7DEF84E-3BF3-42B5-24AF-2B9789867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F236-6ADC-410D-B190-DAB48A6C1C7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46C3B524-400A-7F80-291E-7DC038624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1" y="275263"/>
            <a:ext cx="8889998" cy="781627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ea"/>
                <a:ea typeface="+mn-ea"/>
              </a:rPr>
              <a:t>2. </a:t>
            </a:r>
            <a:r>
              <a:rPr lang="ko-KR" altLang="en-US" dirty="0">
                <a:latin typeface="+mn-ea"/>
                <a:ea typeface="+mn-ea"/>
              </a:rPr>
              <a:t>시스템 가동을 위한 기업내 연동 내역</a:t>
            </a:r>
            <a:endParaRPr lang="ko-KR" altLang="en-US" sz="1600" dirty="0"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699CD7-35C2-71CA-F435-7C3823A40CAD}"/>
              </a:ext>
            </a:extLst>
          </p:cNvPr>
          <p:cNvSpPr txBox="1"/>
          <p:nvPr/>
        </p:nvSpPr>
        <p:spPr>
          <a:xfrm>
            <a:off x="920750" y="1667288"/>
            <a:ext cx="7156450" cy="2531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b="1" dirty="0">
                <a:latin typeface="+mn-ea"/>
              </a:rPr>
              <a:t>고객사 인증 연결 </a:t>
            </a:r>
            <a:r>
              <a:rPr lang="en-US" altLang="ko-KR" b="1" dirty="0">
                <a:latin typeface="+mn-ea"/>
              </a:rPr>
              <a:t>(MS AD, Entra, Google</a:t>
            </a:r>
            <a:r>
              <a:rPr lang="ko-KR" altLang="en-US" b="1" dirty="0">
                <a:latin typeface="+mn-ea"/>
              </a:rPr>
              <a:t>등</a:t>
            </a:r>
            <a:r>
              <a:rPr lang="en-US" altLang="ko-KR" b="1" dirty="0">
                <a:latin typeface="+mn-ea"/>
              </a:rPr>
              <a:t>) 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b="1" dirty="0">
                <a:latin typeface="+mn-ea"/>
              </a:rPr>
              <a:t>인사 데이터 연동 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부서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직위 </a:t>
            </a:r>
            <a:r>
              <a:rPr lang="en-US" altLang="ko-KR" b="1" dirty="0">
                <a:latin typeface="+mn-ea"/>
              </a:rPr>
              <a:t>,</a:t>
            </a:r>
            <a:r>
              <a:rPr lang="ko-KR" altLang="en-US" b="1" dirty="0">
                <a:latin typeface="+mn-ea"/>
              </a:rPr>
              <a:t>사용자 </a:t>
            </a:r>
            <a:r>
              <a:rPr lang="ko-KR" altLang="en-US" b="1" dirty="0" err="1">
                <a:latin typeface="+mn-ea"/>
              </a:rPr>
              <a:t>정보등</a:t>
            </a:r>
            <a:r>
              <a:rPr lang="en-US" altLang="ko-KR" b="1" dirty="0">
                <a:latin typeface="+mn-ea"/>
              </a:rPr>
              <a:t>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b="1" dirty="0">
                <a:latin typeface="+mn-ea"/>
              </a:rPr>
              <a:t>전자결재 연동</a:t>
            </a:r>
            <a:endParaRPr lang="en-US" altLang="ko-KR" b="1" dirty="0">
              <a:latin typeface="+mn-ea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b="1" dirty="0">
                <a:latin typeface="+mn-ea"/>
              </a:rPr>
              <a:t>Email , </a:t>
            </a:r>
            <a:r>
              <a:rPr lang="ko-KR" altLang="en-US" b="1" dirty="0">
                <a:latin typeface="+mn-ea"/>
              </a:rPr>
              <a:t>문자 </a:t>
            </a:r>
            <a:r>
              <a:rPr lang="en-US" altLang="ko-KR" b="1" dirty="0">
                <a:latin typeface="+mn-ea"/>
              </a:rPr>
              <a:t>,</a:t>
            </a:r>
            <a:r>
              <a:rPr lang="ko-KR" altLang="en-US" b="1" dirty="0">
                <a:latin typeface="+mn-ea"/>
              </a:rPr>
              <a:t> 카톡 시스템 발송 연동</a:t>
            </a:r>
            <a:endParaRPr lang="en-US" altLang="ko-KR" b="1" dirty="0">
              <a:latin typeface="+mn-ea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b="1" dirty="0">
                <a:latin typeface="+mn-ea"/>
              </a:rPr>
              <a:t>외부 업체 시스템 접속 시 인증</a:t>
            </a:r>
            <a:r>
              <a:rPr lang="en-US" altLang="ko-KR" b="1" dirty="0">
                <a:latin typeface="+mn-ea"/>
              </a:rPr>
              <a:t>/</a:t>
            </a:r>
            <a:r>
              <a:rPr lang="ko-KR" altLang="en-US" b="1" dirty="0">
                <a:latin typeface="+mn-ea"/>
              </a:rPr>
              <a:t>보안 연결</a:t>
            </a:r>
            <a:endParaRPr lang="en-US" altLang="ko-KR" b="1" dirty="0">
              <a:latin typeface="+mn-ea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b="1" dirty="0">
                <a:latin typeface="+mn-ea"/>
              </a:rPr>
              <a:t>SSO , Https </a:t>
            </a:r>
            <a:r>
              <a:rPr lang="ko-KR" altLang="en-US" b="1" dirty="0">
                <a:latin typeface="+mn-ea"/>
              </a:rPr>
              <a:t>적용 </a:t>
            </a:r>
            <a:endParaRPr lang="en-US" altLang="ko-KR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52175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3B3838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1980</TotalTime>
  <Words>229</Words>
  <Application>Microsoft Office PowerPoint</Application>
  <PresentationFormat>화면 슬라이드 쇼(4:3)</PresentationFormat>
  <Paragraphs>62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1. 아키텍쳐</vt:lpstr>
      <vt:lpstr>2. 시스템 가동을 위한 기업내 연동 내역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백가을(GaEul Baek) (주)컴포인</dc:creator>
  <cp:lastModifiedBy>오세운(Saiwoon Oh) (주)컴포인</cp:lastModifiedBy>
  <cp:revision>384</cp:revision>
  <dcterms:created xsi:type="dcterms:W3CDTF">2023-12-14T00:47:25Z</dcterms:created>
  <dcterms:modified xsi:type="dcterms:W3CDTF">2026-04-25T10:06:40Z</dcterms:modified>
</cp:coreProperties>
</file>